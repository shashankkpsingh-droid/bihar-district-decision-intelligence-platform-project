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Bihar District Intelligence &amp;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17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End-to-End Power BI Data Analytics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12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Population • Agriculture • Education • Rainfall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Bring multiple district-level domains into one interactive environment.</a:t>
            </a:r>
          </a:p>
          <a:p>
            <a:pPr>
              <a:spcAft>
                <a:spcPts val="1000"/>
              </a:spcAft>
              <a:defRPr sz="2000"/>
            </a:pPr>
            <a:r>
              <a:t>• Support executive overview, comparison and district-level investigation.</a:t>
            </a:r>
          </a:p>
          <a:p>
            <a:pPr>
              <a:spcAft>
                <a:spcPts val="1000"/>
              </a:spcAft>
              <a:defRPr sz="2000"/>
            </a:pPr>
            <a:r>
              <a:t>• Enable navigation from Bihar-wide intelligence to District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&amp; Analytical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Population — demographic reference indicators.</a:t>
            </a:r>
          </a:p>
          <a:p>
            <a:pPr>
              <a:spcAft>
                <a:spcPts val="1000"/>
              </a:spcAft>
              <a:defRPr sz="2000"/>
            </a:pPr>
            <a:r>
              <a:t>• Agriculture — crop, area, production and yield.</a:t>
            </a:r>
          </a:p>
          <a:p>
            <a:pPr>
              <a:spcAft>
                <a:spcPts val="1000"/>
              </a:spcAft>
              <a:defRPr sz="2000"/>
            </a:pPr>
            <a:r>
              <a:t>• Education — schools and teachers by level and academic year.</a:t>
            </a:r>
          </a:p>
          <a:p>
            <a:pPr>
              <a:spcAft>
                <a:spcPts val="1000"/>
              </a:spcAft>
              <a:defRPr sz="2000"/>
            </a:pPr>
            <a:r>
              <a:t>• Rainfall — actual, normal and deviation.</a:t>
            </a:r>
          </a:p>
          <a:p>
            <a:pPr>
              <a:spcAft>
                <a:spcPts val="1000"/>
              </a:spcAft>
              <a:defRPr sz="2000"/>
            </a:pPr>
            <a:r>
              <a:t>• Common analytical lens: Bihar district.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ETL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Power Query for source preparation and cleaning.</a:t>
            </a:r>
          </a:p>
          <a:p>
            <a:pPr>
              <a:spcAft>
                <a:spcPts val="1000"/>
              </a:spcAft>
              <a:defRPr sz="2000"/>
            </a:pPr>
            <a:r>
              <a:t>• Standardize district identifiers and District_ID.</a:t>
            </a:r>
          </a:p>
          <a:p>
            <a:pPr>
              <a:spcAft>
                <a:spcPts val="1000"/>
              </a:spcAft>
              <a:defRPr sz="2000"/>
            </a:pPr>
            <a:r>
              <a:t>• Remove inappropriate total/non-district rows.</a:t>
            </a:r>
          </a:p>
          <a:p>
            <a:pPr>
              <a:spcAft>
                <a:spcPts val="1000"/>
              </a:spcAft>
              <a:defRPr sz="2000"/>
            </a:pPr>
            <a:r>
              <a:t>• Standardize crop names.</a:t>
            </a:r>
          </a:p>
          <a:p>
            <a:pPr>
              <a:spcAft>
                <a:spcPts val="1000"/>
              </a:spcAft>
              <a:defRPr sz="2000"/>
            </a:pPr>
            <a:r>
              <a:t>• Preserve the natural grain of each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Model &amp; DAX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Dim_District is the central district dimension.</a:t>
            </a:r>
          </a:p>
          <a:p>
            <a:pPr>
              <a:spcAft>
                <a:spcPts val="1000"/>
              </a:spcAft>
              <a:defRPr sz="2000"/>
            </a:pPr>
            <a:r>
              <a:t>• Four domain fact tables remain separate.</a:t>
            </a:r>
          </a:p>
          <a:p>
            <a:pPr>
              <a:spcAft>
                <a:spcPts val="1000"/>
              </a:spcAft>
              <a:defRPr sz="2000"/>
            </a:pPr>
            <a:r>
              <a:t>• District_ID provides the common relationship key.</a:t>
            </a:r>
          </a:p>
          <a:p>
            <a:pPr>
              <a:spcAft>
                <a:spcPts val="1000"/>
              </a:spcAft>
              <a:defRPr sz="2000"/>
            </a:pPr>
            <a:r>
              <a:t>• Aggregation follows metric type: additive versus non-additive.</a:t>
            </a:r>
          </a:p>
          <a:p>
            <a:pPr>
              <a:spcAft>
                <a:spcPts val="1000"/>
              </a:spcAft>
              <a:defRPr sz="2000"/>
            </a:pPr>
            <a:r>
              <a:t>• Rainfall variance uses Actual −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Dashboard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Home; Executive Dashboard; Agriculture Intelligence; Education Intelligence; Rainfall Intelligence; District Profile.</a:t>
            </a:r>
          </a:p>
          <a:p>
            <a:pPr>
              <a:spcAft>
                <a:spcPts val="1000"/>
              </a:spcAft>
              <a:defRPr sz="2000"/>
            </a:pPr>
            <a:r>
              <a:t>• KPIs, ShapeMap, comparison visuals and interactive filters support exploration.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Districts differ substantially across demographic indicators.</a:t>
            </a:r>
          </a:p>
          <a:p>
            <a:pPr>
              <a:spcAft>
                <a:spcPts val="1000"/>
              </a:spcAft>
              <a:defRPr sz="2000"/>
            </a:pPr>
            <a:r>
              <a:t>• Agriculture comparison should consider production, area and yield together.</a:t>
            </a:r>
          </a:p>
          <a:p>
            <a:pPr>
              <a:spcAft>
                <a:spcPts val="1000"/>
              </a:spcAft>
              <a:defRPr sz="2000"/>
            </a:pPr>
            <a:r>
              <a:t>• Education analysis should view schools alongside teachers and academic year.</a:t>
            </a:r>
          </a:p>
          <a:p>
            <a:pPr>
              <a:spcAft>
                <a:spcPts val="1000"/>
              </a:spcAft>
              <a:defRPr sz="2000"/>
            </a:pPr>
            <a:r>
              <a:t>• Positive rainfall variance means above-normal rainfall; negative means below-normal.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Important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Domains do not share one common time period.</a:t>
            </a:r>
          </a:p>
          <a:p>
            <a:pPr>
              <a:spcAft>
                <a:spcPts val="1000"/>
              </a:spcAft>
              <a:defRPr sz="2000"/>
            </a:pPr>
            <a:r>
              <a:t>• Population is 2011 reference data; education spans academic years; rainfall is 2026; agriculture has its own scope.</a:t>
            </a:r>
          </a:p>
          <a:p>
            <a:pPr>
              <a:spcAft>
                <a:spcPts val="1000"/>
              </a:spcAft>
              <a:defRPr sz="2000"/>
            </a:pPr>
            <a:r>
              <a:t>• Cross-domain comparisons are contextual, not synchronized time-series analysis.</a:t>
            </a:r>
          </a:p>
          <a:p>
            <a:pPr>
              <a:spcAft>
                <a:spcPts val="1000"/>
              </a:spcAft>
              <a:defRPr sz="2000"/>
            </a:pPr>
            <a:r>
              <a:t>• The project is descriptive and does not establish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Consistent multi-year data across domains.</a:t>
            </a:r>
          </a:p>
          <a:p>
            <a:pPr>
              <a:spcAft>
                <a:spcPts val="1000"/>
              </a:spcAft>
              <a:defRPr sz="2000"/>
            </a:pPr>
            <a:r>
              <a:t>• Workforce/employment indicators.</a:t>
            </a:r>
          </a:p>
          <a:p>
            <a:pPr>
              <a:spcAft>
                <a:spcPts val="1000"/>
              </a:spcAft>
              <a:defRPr sz="2000"/>
            </a:pPr>
            <a:r>
              <a:t>• Broader crops and irrigation context.</a:t>
            </a:r>
          </a:p>
          <a:p>
            <a:pPr>
              <a:spcAft>
                <a:spcPts val="1000"/>
              </a:spcAft>
              <a:defRPr sz="2000"/>
            </a:pPr>
            <a:r>
              <a:t>• Monthly rainfall and drought/flood indicators.</a:t>
            </a:r>
          </a:p>
          <a:p>
            <a:pPr>
              <a:spcAft>
                <a:spcPts val="1000"/>
              </a:spcAft>
              <a:defRPr sz="2000"/>
            </a:pPr>
            <a:r>
              <a:t>• Education outcomes and eventually forecasting with sufficient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Excel; Power Query; Power Pivot; Power BI; DAX.</a:t>
            </a:r>
          </a:p>
          <a:p>
            <a:pPr>
              <a:spcAft>
                <a:spcPts val="1000"/>
              </a:spcAft>
              <a:defRPr sz="2000"/>
            </a:pPr>
            <a:r>
              <a:t>• ETL and data cleaning.</a:t>
            </a:r>
          </a:p>
          <a:p>
            <a:pPr>
              <a:spcAft>
                <a:spcPts val="1000"/>
              </a:spcAft>
              <a:defRPr sz="2000"/>
            </a:pPr>
            <a:r>
              <a:t>• Dimensional modeling.</a:t>
            </a:r>
          </a:p>
          <a:p>
            <a:pPr>
              <a:spcAft>
                <a:spcPts val="1000"/>
              </a:spcAft>
              <a:defRPr sz="2000"/>
            </a:pPr>
            <a:r>
              <a:t>• KPI and aggregation design.</a:t>
            </a:r>
          </a:p>
          <a:p>
            <a:pPr>
              <a:spcAft>
                <a:spcPts val="1000"/>
              </a:spcAft>
              <a:defRPr sz="2000"/>
            </a:pPr>
            <a:r>
              <a:t>• Interactive and geographic visualization.</a:t>
            </a:r>
          </a:p>
          <a:p>
            <a:pPr>
              <a:spcAft>
                <a:spcPts val="1000"/>
              </a:spcAft>
              <a:defRPr sz="2000"/>
            </a:pPr>
            <a:r>
              <a:t>• Business insights, QA and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Portfolio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Raw Data → ETL → Data Model → DAX → Dashboard → Insights → QA → Documentation.</a:t>
            </a:r>
          </a:p>
          <a:p>
            <a:pPr>
              <a:spcAft>
                <a:spcPts val="1000"/>
              </a:spcAft>
              <a:defRPr sz="2000"/>
            </a:pPr>
            <a:r>
              <a:t>• Demonstrates analytical judgment, not only dashboard formatting.</a:t>
            </a:r>
          </a:p>
          <a:p>
            <a:pPr>
              <a:spcAft>
                <a:spcPts val="1000"/>
              </a:spcAft>
              <a:defRPr sz="2000"/>
            </a:pPr>
            <a:r>
              <a:t>• Key design lesson: preserve domain grains and use a common district dimension.</a:t>
            </a:r>
          </a:p>
          <a:p>
            <a:pPr>
              <a:spcAft>
                <a:spcPts val="1000"/>
              </a:spcAft>
              <a:defRPr sz="2000"/>
            </a:pPr>
            <a:r>
              <a:t>• Final package includes PBIX, documentation, README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